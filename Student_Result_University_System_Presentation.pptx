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</a:defRPr>
            </a:pPr>
            <a:r>
              <a:t>Student Result Management &amp;</a:t>
            </a:r>
          </a:p>
          <a:p>
            <a:r>
              <a:t>University Information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EC4899"/>
                </a:solidFill>
              </a:defRPr>
            </a:pPr>
            <a:r>
              <a:t>A Web-Based Client-Server Chat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Presented by: MD. SAFIULLAH FARAJY (2102051)</a:t>
            </a:r>
          </a:p>
          <a:p>
            <a:r>
              <a:t>Course: Client-Server Programming</a:t>
            </a:r>
          </a:p>
          <a:p>
            <a:r>
              <a:t>Institution: Patuakhali Science and Technology University</a:t>
            </a:r>
          </a:p>
          <a:p>
            <a:r>
              <a:t>Date: November 22,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FF"/>
                </a:solidFill>
              </a:defRPr>
            </a:pPr>
            <a:r>
              <a:t>💬 Interactive Chat  |  🎓 84+ Students  |  🏛️ 24 Universities  |  🎨 Stylish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this Project?</a:t>
            </a:r>
          </a:p>
          <a:p>
            <a:pPr>
              <a:defRPr sz="1600"/>
            </a:pPr>
            <a:r>
              <a:t>A web-based client-server application enabling conversational interaction for: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1. Student Result Management System</a:t>
            </a:r>
          </a:p>
          <a:p>
            <a:pPr lvl="1">
              <a:defRPr sz="1400"/>
            </a:pPr>
            <a:r>
              <a:t>Store and retrieve student academic records</a:t>
            </a:r>
          </a:p>
          <a:p>
            <a:pPr lvl="1">
              <a:defRPr sz="1400"/>
            </a:pPr>
            <a:r>
              <a:t>Search by Student ID or Name</a:t>
            </a:r>
          </a:p>
          <a:p>
            <a:pPr lvl="1">
              <a:defRPr sz="1400"/>
            </a:pPr>
            <a:r>
              <a:t>CGPA tracking (2.50 - 4.00 scale)</a:t>
            </a:r>
          </a:p>
          <a:p>
            <a:pPr lvl="1">
              <a:defRPr sz="1400"/>
            </a:pPr>
            <a:r>
              <a:t>Database with 84 student records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2. University Information Portal</a:t>
            </a:r>
          </a:p>
          <a:p>
            <a:pPr lvl="1">
              <a:defRPr sz="1400"/>
            </a:pPr>
            <a:r>
              <a:t>24 public universities database</a:t>
            </a:r>
          </a:p>
          <a:p>
            <a:pPr lvl="1">
              <a:defRPr sz="1400"/>
            </a:pPr>
            <a:r>
              <a:t>Search by name or short code</a:t>
            </a:r>
          </a:p>
          <a:p>
            <a:pPr lvl="1">
              <a:defRPr sz="1400"/>
            </a:pPr>
            <a:r>
              <a:t>Complete address and details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Technology Stack: Python Flask, SQLite3, HTML5, CSS3,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Socket Programming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Network Communication Implementation</a:t>
            </a:r>
          </a:p>
          <a:p>
            <a:pPr>
              <a:defRPr sz="1800" b="1">
                <a:solidFill>
                  <a:srgbClr val="22C55E"/>
                </a:solidFill>
              </a:defRPr>
            </a:pPr>
            <a:r>
              <a:t>🔌 HTTP Protocol (Application Layer)</a:t>
            </a:r>
          </a:p>
          <a:p>
            <a:pPr lvl="1">
              <a:defRPr sz="1400"/>
            </a:pPr>
            <a:r>
              <a:t>Uses HTTP/1.1 protocol over TCP sockets for reliable communication</a:t>
            </a:r>
          </a:p>
          <a:p>
            <a:pPr lvl="1">
              <a:defRPr sz="1400"/>
            </a:pPr>
            <a:r>
              <a:t>POST method for sending chat messages to /chat endpoint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⚙️ TCP/IP Stack (Transport Layer)</a:t>
            </a:r>
          </a:p>
          <a:p>
            <a:pPr lvl="1">
              <a:defRPr sz="1400"/>
            </a:pPr>
            <a:r>
              <a:t>Flask server binds to TCP socket on 0.0.0.0:5000</a:t>
            </a:r>
          </a:p>
          <a:p>
            <a:pPr lvl="1">
              <a:defRPr sz="1400"/>
            </a:pPr>
            <a:r>
              <a:t>Reliable, connection-oriented stream sockets (SOCK_STREAM)</a:t>
            </a:r>
          </a:p>
          <a:p>
            <a:pPr lvl="1">
              <a:defRPr sz="1400"/>
            </a:pPr>
            <a:r>
              <a:t>Three-way handshake for connection establishment</a:t>
            </a:r>
          </a:p>
          <a:p>
            <a:pPr>
              <a:defRPr sz="1800" b="1">
                <a:solidFill>
                  <a:srgbClr val="F97316"/>
                </a:solidFill>
              </a:defRPr>
            </a:pPr>
            <a:r>
              <a:t>📡 Client-Server Socket Communication</a:t>
            </a:r>
          </a:p>
          <a:p>
            <a:pPr lvl="1">
              <a:defRPr sz="1400"/>
            </a:pPr>
            <a:r>
              <a:t>Client: Browser creates socket connection via AJAX/Fetch API</a:t>
            </a:r>
          </a:p>
          <a:p>
            <a:pPr lvl="1">
              <a:defRPr sz="1400"/>
            </a:pPr>
            <a:r>
              <a:t>Server: Flask handles multiple concurrent connections via WSGI</a:t>
            </a:r>
          </a:p>
          <a:p>
            <a:pPr lvl="1">
              <a:defRPr sz="1400"/>
            </a:pPr>
            <a:r>
              <a:t>JSON serialization for data exchange over socket</a:t>
            </a:r>
          </a:p>
          <a:p>
            <a:pPr>
              <a:defRPr sz="1300" i="1">
                <a:solidFill>
                  <a:srgbClr val="EC4899"/>
                </a:solidFill>
              </a:defRPr>
            </a:pPr>
            <a:r>
              <a:t>🔒 Socket Features: CORS enabled, persistent connections,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Client-Server Architecture Design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🖥️ Client Side (Web Browser)</a:t>
            </a:r>
          </a:p>
          <a:p>
            <a:pPr lvl="1">
              <a:defRPr sz="1300"/>
            </a:pPr>
            <a:r>
              <a:t>JavaScript creates socket connection using Fetch API</a:t>
            </a:r>
          </a:p>
          <a:p>
            <a:pPr lvl="1">
              <a:defRPr sz="1300"/>
            </a:pPr>
            <a:r>
              <a:t>Sends HTTP POST requests over TCP socket to port 5000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⚙️ Server Side (Flask Application)</a:t>
            </a:r>
          </a:p>
          <a:p>
            <a:pPr lvl="1">
              <a:defRPr sz="1300"/>
            </a:pPr>
            <a:r>
              <a:t>Flask binds to socket: 0.0.0.0:5000 (all network interfaces)</a:t>
            </a:r>
          </a:p>
          <a:p>
            <a:pPr lvl="1">
              <a:defRPr sz="1300"/>
            </a:pPr>
            <a:r>
              <a:t>Accepts incoming socket connections from multiple clients</a:t>
            </a:r>
          </a:p>
          <a:p>
            <a:pPr lvl="1">
              <a:defRPr sz="1300"/>
            </a:pPr>
            <a:r>
              <a:t>Routes HTTP requests to appropriate handlers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💾 Data Layer</a:t>
            </a:r>
          </a:p>
          <a:p>
            <a:pPr lvl="1">
              <a:defRPr sz="1300"/>
            </a:pPr>
            <a:r>
              <a:t>SQLite Database with 84 student records</a:t>
            </a:r>
          </a:p>
          <a:p>
            <a:pPr lvl="1">
              <a:defRPr sz="1300"/>
            </a:pPr>
            <a:r>
              <a:t>Universities Module with 24 institutions</a:t>
            </a:r>
          </a:p>
          <a:p>
            <a:pPr>
              <a:defRPr sz="1400" i="1">
                <a:solidFill>
                  <a:srgbClr val="EC4899"/>
                </a:solidFill>
              </a:defRPr>
            </a:pPr>
            <a:r>
              <a:t>Socket Flow: Client Socket → TCP Connection → Server Socket →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Database Design &amp;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Results Table Structure</a:t>
            </a:r>
          </a:p>
          <a:p>
            <a:pPr>
              <a:defRPr sz="1300"/>
            </a:pPr>
            <a:r>
              <a:t>id INTEGER PRIMARY KEY - Student ID (unique)</a:t>
            </a:r>
          </a:p>
          <a:p>
            <a:pPr>
              <a:defRPr sz="1300"/>
            </a:pPr>
            <a:r>
              <a:t>name TEXT NOT NULL - Full Name</a:t>
            </a:r>
          </a:p>
          <a:p>
            <a:pPr>
              <a:defRPr sz="1300"/>
            </a:pPr>
            <a:r>
              <a:t>result REAL NOT NULL - CGPA (2.50-4.00)</a:t>
            </a:r>
          </a:p>
          <a:p>
            <a:pPr>
              <a:defRPr sz="1300"/>
            </a:pPr>
            <a:r>
              <a:t>college TEXT NOT NULL - College/Department</a:t>
            </a:r>
          </a:p>
          <a:p>
            <a:pPr>
              <a:defRPr sz="1300"/>
            </a:pPr>
            <a:r>
              <a:t>board TEXT NOT NULL - Education Board</a:t>
            </a:r>
          </a:p>
          <a:p>
            <a:pPr>
              <a:defRPr sz="1300"/>
            </a:pPr>
            <a:r>
              <a:t>created_at TIMESTAMP - Record timestamp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Student Data Statistics</a:t>
            </a:r>
          </a:p>
          <a:p>
            <a:pPr lvl="1">
              <a:defRPr sz="1300"/>
            </a:pPr>
            <a:r>
              <a:t>Batch 2021: 75 students (IDs 2102002-2102080) | Avg CGPA: 3.24</a:t>
            </a:r>
          </a:p>
          <a:p>
            <a:pPr lvl="1">
              <a:defRPr sz="1300"/>
            </a:pPr>
            <a:r>
              <a:t>Batch 2020: 8 students | Batch 2019: 1 student</a:t>
            </a:r>
          </a:p>
          <a:p>
            <a:pPr lvl="1">
              <a:defRPr sz="1300" b="1"/>
            </a:pPr>
            <a:r>
              <a:t>Total: 84 students | Overall Avg CGPA: 3.25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Universities: 24 public institutions (DU, BUET, PSTU, CUET, RUET, etc.)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User Interface &amp; Design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Modern, Stylish &amp; Interactive UI</a:t>
            </a: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🎨 Visual Design Elements</a:t>
            </a:r>
          </a:p>
          <a:p>
            <a:pPr lvl="1">
              <a:defRPr sz="1300"/>
            </a:pPr>
            <a:r>
              <a:t>Glass Morphism: Translucent container with backdrop blur</a:t>
            </a:r>
          </a:p>
          <a:p>
            <a:pPr lvl="1">
              <a:defRPr sz="1300"/>
            </a:pPr>
            <a:r>
              <a:t>Animated Background: Floating gradient orbs (purple, pink, blue)</a:t>
            </a:r>
          </a:p>
          <a:p>
            <a:pPr lvl="1">
              <a:defRPr sz="1300"/>
            </a:pPr>
            <a:r>
              <a:t>6 Quick Command Buttons: Instant access to features</a:t>
            </a:r>
          </a:p>
          <a:p>
            <a:pPr lvl="1">
              <a:defRPr sz="1300"/>
            </a:pPr>
            <a:r>
              <a:t>Status Indicator: Real-time connection status</a:t>
            </a:r>
          </a:p>
          <a:p>
            <a:pPr lvl="1">
              <a:defRPr sz="1300"/>
            </a:pPr>
            <a:r>
              <a:t>Typing Animation: Processing indicator with bouncing dots</a:t>
            </a:r>
          </a:p>
          <a:p>
            <a:pPr lvl="1">
              <a:defRPr sz="1300"/>
            </a:pPr>
            <a:r>
              <a:t>Message Bubbles: Different styles for user vs server</a:t>
            </a: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💡 User Experience Features</a:t>
            </a:r>
          </a:p>
          <a:p>
            <a:pPr lvl="1">
              <a:defRPr sz="1400">
                <a:solidFill>
                  <a:srgbClr val="EC4899"/>
                </a:solidFill>
              </a:defRPr>
            </a:pPr>
            <a:r>
              <a:t>📱 Responsive | ⚡ Real-time | 🎯 One-click | ⌨️ Keyboard shortcuts | 😊 Emoji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Implementation &amp;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Chat Commands</a:t>
            </a:r>
          </a:p>
          <a:p>
            <a:pPr>
              <a:defRPr sz="1400"/>
            </a:pPr>
            <a:r>
              <a:t>search [ID] → Search student by ID</a:t>
            </a:r>
          </a:p>
          <a:p>
            <a:pPr>
              <a:defRPr sz="1400"/>
            </a:pPr>
            <a:r>
              <a:t>find [NAME] → Search by student name</a:t>
            </a:r>
          </a:p>
          <a:p>
            <a:pPr>
              <a:defRPr sz="1400"/>
            </a:pPr>
            <a:r>
              <a:t>list all → View all 84 students</a:t>
            </a:r>
          </a:p>
          <a:p>
            <a:pPr>
              <a:defRPr sz="1400"/>
            </a:pPr>
            <a:r>
              <a:t>university [NAME/CODE] → Search university</a:t>
            </a:r>
          </a:p>
          <a:p>
            <a:pPr>
              <a:defRPr sz="1400"/>
            </a:pPr>
            <a:r>
              <a:t>list universities → View all 24 universities</a:t>
            </a:r>
          </a:p>
          <a:p>
            <a:pPr>
              <a:defRPr sz="1400"/>
            </a:pPr>
            <a:r>
              <a:t>help → Display all commands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Technical Stack</a:t>
            </a:r>
          </a:p>
          <a:p>
            <a:pPr lvl="1">
              <a:defRPr sz="1300"/>
            </a:pPr>
            <a:r>
              <a:t>Backend: Flask REST API with regex command parser</a:t>
            </a:r>
          </a:p>
          <a:p>
            <a:pPr lvl="1">
              <a:defRPr sz="1300"/>
            </a:pPr>
            <a:r>
              <a:t>Frontend: JavaScript AJAX with async/await</a:t>
            </a:r>
          </a:p>
          <a:p>
            <a:pPr lvl="1">
              <a:defRPr sz="1300"/>
            </a:pPr>
            <a:r>
              <a:t>Database: SQLite3 with CRUD operations</a:t>
            </a:r>
          </a:p>
          <a:p>
            <a:pPr lvl="1">
              <a:defRPr sz="1300">
                <a:solidFill>
                  <a:srgbClr val="646464"/>
                </a:solidFill>
              </a:defRPr>
            </a:pPr>
            <a:r>
              <a:t>Features: CORS enabled, error handling, input validation, JSON responses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8B5CF6"/>
                </a:solidFill>
              </a:defRPr>
            </a:pPr>
            <a:r>
              <a:t>Deployment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Deployment Status</a:t>
            </a:r>
          </a:p>
          <a:p>
            <a:pPr>
              <a:defRPr sz="1400"/>
            </a:pPr>
            <a:r>
              <a:t>✅ Git Repository: Version controlled and organized</a:t>
            </a:r>
          </a:p>
          <a:p>
            <a:pPr>
              <a:defRPr sz="1300"/>
            </a:pPr>
            <a:r>
              <a:t>✅ GitHub: https://github.com/safiullah-foragy/Socket_Programming_Client_Server_Chatting</a:t>
            </a:r>
          </a:p>
          <a:p>
            <a:pPr>
              <a:defRPr sz="1400"/>
            </a:pPr>
            <a:r>
              <a:t>✅ Production Ready: Procfile, requirements.txt, runtime.txt</a:t>
            </a:r>
          </a:p>
          <a:p>
            <a:pPr>
              <a:defRPr sz="1400"/>
            </a:pPr>
            <a:r>
              <a:t>✅ Deployment Options: Render.com, Railway.app, Heroku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Technologies Mastered</a:t>
            </a:r>
          </a:p>
          <a:p>
            <a:pPr lvl="1">
              <a:defRPr sz="1300"/>
            </a:pPr>
            <a:r>
              <a:t>Backend: Python Flask, SQLite | Frontend: HTML5, CSS3, JavaScript</a:t>
            </a:r>
          </a:p>
          <a:p>
            <a:pPr lvl="1">
              <a:defRPr sz="1300"/>
            </a:pPr>
            <a:r>
              <a:t>Concepts: Client-Server, REST API, HTTP, JSON, MVC pattern</a:t>
            </a:r>
          </a:p>
          <a:p>
            <a:pPr>
              <a:defRPr sz="1800" b="1">
                <a:solidFill>
                  <a:srgbClr val="3B82F6"/>
                </a:solidFill>
              </a:defRPr>
            </a:pPr>
            <a:r>
              <a:t>Future Enhancements</a:t>
            </a:r>
          </a:p>
          <a:p>
            <a:pPr lvl="1">
              <a:defRPr sz="1400">
                <a:solidFill>
                  <a:srgbClr val="EC4899"/>
                </a:solidFill>
              </a:defRPr>
            </a:pPr>
            <a:r>
              <a:t>🔐 User authentication | 📊 Admin dashboard | 📱 Mobile app | 🤖 AI chatbot</a:t>
            </a:r>
          </a:p>
          <a:p>
            <a:pPr algn="ctr">
              <a:defRPr sz="2400" b="1">
                <a:solidFill>
                  <a:srgbClr val="8B5CF6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